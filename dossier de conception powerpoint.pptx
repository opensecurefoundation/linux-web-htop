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23" r:id="rId11"/>
    <p:sldId id="324" r:id="rId12"/>
    <p:sldId id="327" r:id="rId13"/>
    <p:sldId id="315" r:id="rId14"/>
    <p:sldId id="325" r:id="rId15"/>
    <p:sldId id="317" r:id="rId16"/>
  </p:sldIdLst>
  <p:sldSz cx="12192000" cy="6858000"/>
  <p:notesSz cx="13716000" cy="2438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86" y="16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6167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EC14F6-F78E-A445-2DCC-E3A415493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826EBD2-1B5A-C4FD-71FC-634427D9D4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E64297-3C8A-8171-DBC4-312BC0A5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911877-B26C-6290-4C83-96A111F7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299515-F6B2-1766-A077-EBA0C3A9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9532294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90290-40AD-ED1A-2DFE-3E17668A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5C480D-3BC8-10EF-0AED-4D85A0362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4910D9-2E0D-38B8-CE9F-C567A493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18FECF7-0F32-E49B-707B-2C2CB022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E4C684-3787-630A-2000-B017727E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164885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7BB3B-C51A-2310-0CFE-48004E038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021203-D42D-834C-C950-B61A62790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6184CD-D5FD-D933-4E4C-A4694A62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01660B-2BA3-254D-4758-A537ACCFD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91CB67-09A9-F1AA-3BEA-61ACBD7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310215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035E8F-24A8-E1B3-EC47-2D08B9FDB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CF2BA7-8447-35F1-D321-F7FE7F4DF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9B31185-F0CF-DF0D-567B-3E75FBEC9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5DB5FF7-9D55-2745-BBBE-EE6BC6CE4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7544D0C-7CF5-E890-4308-A6072D0D7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E439528-375B-0C02-959F-C98C30EC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085579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F8A171-C7F7-A1F4-BB3B-3F010B224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39143E-161C-9678-370A-5FA9586E7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D981E0-E138-C0C8-ACF5-6BC328155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087A48-5FC3-2386-9936-12F954787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57F6CFA-289E-B292-CDB0-66E1370F1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824D021-604C-8FAC-DB2A-58C4E201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FB11200-D258-9A67-40D2-DFC8722A6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B688F4-871D-F701-E7BD-C4AC9D150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685832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6F630B-9650-0DEF-E502-C545E5D39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7BD1540-C1EB-4B7A-54CB-87C6C58F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392CAD-C326-BAF5-2057-098CB0E0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B33D7E4-BA1D-B749-8E44-72925277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0668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1A467F4-E0ED-AF82-DFEE-639B2D6FE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87CE15-B875-4855-6A8E-E06270AD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AF4575-2549-08CD-FD0E-C074029E4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Forme libre : Forme 5">
            <a:extLst>
              <a:ext uri="{FF2B5EF4-FFF2-40B4-BE49-F238E27FC236}">
                <a16:creationId xmlns:a16="http://schemas.microsoft.com/office/drawing/2014/main" id="{84062C3E-C468-22B8-6C0D-797D03581C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Forme libre : Forme 7">
            <a:extLst>
              <a:ext uri="{FF2B5EF4-FFF2-40B4-BE49-F238E27FC236}">
                <a16:creationId xmlns:a16="http://schemas.microsoft.com/office/drawing/2014/main" id="{1D07F0F3-9F39-0031-0F7E-484773AF556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957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C8ED4D-0F67-0929-7B6D-1DBCD6F6B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A00C4D-288B-A2B0-B538-85AB57119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A321FE8-FE1B-0960-F05A-29AA037AB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F00832-6DA4-DFEF-886A-821D92D9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6BA85F-A95F-79E7-FF86-A2FCC36B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EDCF52-2EA0-893A-095F-E6682F8B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Freeform: Forme 10">
            <a:extLst>
              <a:ext uri="{FF2B5EF4-FFF2-40B4-BE49-F238E27FC236}">
                <a16:creationId xmlns:a16="http://schemas.microsoft.com/office/drawing/2014/main" id="{B0AC7145-9C43-52DD-565D-9FB41B173C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772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CBA760-224C-47D6-7545-52894EB23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65D62C9-E212-0C61-D711-DAD55CC15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E6276D-5B2A-ECDF-5785-C60C64D21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14DE9D-2159-4FDE-9DFC-3F0F9F3E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7F7D0F6-DEB4-4B0E-47D8-D0D5C7A42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F3E9D9-1213-FCB3-A094-2DFEF2D1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Freeform: Forme 10">
            <a:extLst>
              <a:ext uri="{FF2B5EF4-FFF2-40B4-BE49-F238E27FC236}">
                <a16:creationId xmlns:a16="http://schemas.microsoft.com/office/drawing/2014/main" id="{56297226-742D-6442-9719-C16E410FDF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331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C112F-4B0A-6705-E096-434ACC841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DBC380-0C24-D59B-B358-85D2E4A87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D4AD55C-1EA4-0A7F-D06D-FC1DD5FEA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B11004-FD39-6517-6B92-E2B40160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E23A40-4A46-9D95-8DD2-B181079A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38034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5961DB7-7C19-6E25-A354-41CB303E7A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D9AEFF4-195B-DD51-7D3C-0CF6C2E3D3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D93B40-FFB2-35BB-322C-22CA27B4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C98DBE-1B41-5FE9-E9E3-90754FEC9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58099A-CF46-6DB3-0BA2-3081C402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638181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301699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1307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36849003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291848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02172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539354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584146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170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17AF540-B63F-3100-A13E-F0C483F9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9894D2F-8FCD-2E6C-7866-189A4145B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38D3D1-83A2-863C-9F3A-118AC631B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8338B8-4C31-4441-AD78-970882C187D8}" type="datetimeFigureOut">
              <a:rPr lang="fr-FR" smtClean="0"/>
              <a:t>24/01/2026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8D575A4-9C06-9951-41C8-F68DD461F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4C2B53-0FCC-0314-2311-EBB6DDE79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913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59502" y="2018581"/>
            <a:ext cx="6980237" cy="4195520"/>
          </a:xfrm>
        </p:spPr>
        <p:txBody>
          <a:bodyPr rtlCol="0" anchor="ctr"/>
          <a:lstStyle>
            <a:defPPr>
              <a:defRPr lang="fr-FR"/>
            </a:defPPr>
          </a:lstStyle>
          <a:p>
            <a:r>
              <a:rPr lang="fr-FR" sz="5400" b="1" dirty="0">
                <a:solidFill>
                  <a:srgbClr val="00B050"/>
                </a:solidFill>
              </a:rPr>
              <a:t/>
            </a:r>
            <a:br>
              <a:rPr lang="fr-FR" sz="5400" b="1" dirty="0">
                <a:solidFill>
                  <a:srgbClr val="00B050"/>
                </a:solidFill>
              </a:rPr>
            </a:br>
            <a:r>
              <a:rPr lang="fr-FR" sz="5400" b="1" dirty="0">
                <a:solidFill>
                  <a:srgbClr val="00B050"/>
                </a:solidFill>
              </a:rPr>
              <a:t>CAHIER </a:t>
            </a:r>
            <a:r>
              <a:rPr lang="fr-FR" sz="5400" b="1" dirty="0" smtClean="0">
                <a:solidFill>
                  <a:srgbClr val="00B050"/>
                </a:solidFill>
              </a:rPr>
              <a:t>DE CONCEPTION</a:t>
            </a:r>
            <a:r>
              <a:rPr lang="fr-FR" sz="5400" b="1" dirty="0">
                <a:solidFill>
                  <a:srgbClr val="00B050"/>
                </a:solidFill>
              </a:rPr>
              <a:t/>
            </a:r>
            <a:br>
              <a:rPr lang="fr-FR" sz="5400" b="1" dirty="0">
                <a:solidFill>
                  <a:srgbClr val="00B050"/>
                </a:solidFill>
              </a:rPr>
            </a:br>
            <a:r>
              <a:rPr lang="fr-FR" sz="5400" b="1" dirty="0" smtClean="0">
                <a:solidFill>
                  <a:schemeClr val="accent1"/>
                </a:solidFill>
              </a:rPr>
              <a:t/>
            </a:r>
            <a:br>
              <a:rPr lang="fr-FR" sz="5400" b="1" dirty="0" smtClean="0">
                <a:solidFill>
                  <a:schemeClr val="accent1"/>
                </a:solidFill>
              </a:rPr>
            </a:br>
            <a:r>
              <a:rPr lang="fr-CM" dirty="0" smtClean="0">
                <a:solidFill>
                  <a:srgbClr val="00B050"/>
                </a:solidFill>
              </a:rPr>
              <a:t>CONCEPTION ET REALISATION D’UN WEB HTOP EVOLUE CAS DE FEDORA</a:t>
            </a:r>
            <a:r>
              <a:rPr lang="fr-FR" sz="3200" dirty="0">
                <a:solidFill>
                  <a:srgbClr val="00B050"/>
                </a:solidFill>
              </a:rPr>
              <a:t/>
            </a:r>
            <a:br>
              <a:rPr lang="fr-FR" sz="3200" dirty="0">
                <a:solidFill>
                  <a:srgbClr val="00B050"/>
                </a:solidFill>
              </a:rPr>
            </a:br>
            <a:endParaRPr lang="fr-FR" sz="3200" b="1" dirty="0">
              <a:solidFill>
                <a:srgbClr val="00B050"/>
              </a:solidFill>
            </a:endParaRPr>
          </a:p>
        </p:txBody>
      </p:sp>
      <p:pic>
        <p:nvPicPr>
          <p:cNvPr id="5" name="Picture 2" descr="Homepage - Institut Universitaire Saint Jean">
            <a:extLst>
              <a:ext uri="{FF2B5EF4-FFF2-40B4-BE49-F238E27FC236}">
                <a16:creationId xmlns:a16="http://schemas.microsoft.com/office/drawing/2014/main" id="{9400E558-4198-C8FC-8BB4-36320DE6E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0960" y="0"/>
            <a:ext cx="3130080" cy="213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687" y="950792"/>
            <a:ext cx="6583680" cy="153135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sz="5400" b="1" dirty="0">
                <a:solidFill>
                  <a:srgbClr val="00B050"/>
                </a:solidFill>
              </a:rPr>
              <a:t>PLAN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43" y="2206076"/>
            <a:ext cx="7772224" cy="3207344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 marL="457200" indent="-457200">
              <a:buFont typeface="+mj-lt"/>
              <a:buAutoNum type="arabicPeriod"/>
            </a:pPr>
            <a:r>
              <a:rPr lang="fr-FR" sz="3200" dirty="0">
                <a:solidFill>
                  <a:srgbClr val="00B050"/>
                </a:solidFill>
              </a:rPr>
              <a:t>INTRODUCTION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3200" dirty="0" smtClean="0">
                <a:solidFill>
                  <a:srgbClr val="00B050"/>
                </a:solidFill>
              </a:rPr>
              <a:t>ARCHITECTURE GLOBAL DU SYSTEME 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3200" dirty="0" smtClean="0">
                <a:solidFill>
                  <a:srgbClr val="00B050"/>
                </a:solidFill>
              </a:rPr>
              <a:t>ARCHITECTURE LOGICIEL INTERNE</a:t>
            </a:r>
            <a:endParaRPr lang="fr-FR" sz="32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3200" dirty="0" smtClean="0">
                <a:solidFill>
                  <a:srgbClr val="00B050"/>
                </a:solidFill>
              </a:rPr>
              <a:t>PRESENTATION DES DIAGRAMMES </a:t>
            </a:r>
            <a:endParaRPr lang="fr-FR" sz="32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3200" dirty="0">
                <a:solidFill>
                  <a:srgbClr val="00B050"/>
                </a:solidFill>
              </a:rPr>
              <a:t> </a:t>
            </a:r>
            <a:r>
              <a:rPr lang="fr-FR" sz="3200" dirty="0" smtClean="0">
                <a:solidFill>
                  <a:srgbClr val="00B050"/>
                </a:solidFill>
              </a:rPr>
              <a:t>CONTRAINTE DE CONCEPTION</a:t>
            </a:r>
            <a:endParaRPr lang="fr-FR" sz="3200" dirty="0">
              <a:solidFill>
                <a:srgbClr val="00B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3200" dirty="0" smtClean="0">
                <a:solidFill>
                  <a:srgbClr val="00B050"/>
                </a:solidFill>
              </a:rPr>
              <a:t>CONCLUSION</a:t>
            </a:r>
            <a:endParaRPr lang="fr-FR" sz="3200" dirty="0">
              <a:solidFill>
                <a:srgbClr val="00B050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380BC3C3-3C20-3F15-22B7-BEC3D0246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4514" y="242688"/>
            <a:ext cx="5009071" cy="2367377"/>
          </a:xfrm>
        </p:spPr>
        <p:txBody>
          <a:bodyPr/>
          <a:lstStyle/>
          <a:p>
            <a:r>
              <a:rPr lang="fr-FR" sz="4800" dirty="0">
                <a:solidFill>
                  <a:srgbClr val="00B050"/>
                </a:solidFill>
              </a:rPr>
              <a:t>INTRODUCTION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8961D5E-EF46-A149-2EEF-62E00D9108EB}"/>
              </a:ext>
            </a:extLst>
          </p:cNvPr>
          <p:cNvSpPr txBox="1"/>
          <p:nvPr/>
        </p:nvSpPr>
        <p:spPr>
          <a:xfrm>
            <a:off x="1362973" y="2279151"/>
            <a:ext cx="8626415" cy="2722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/>
              <a:t>Ce dossier de conception </a:t>
            </a:r>
            <a:r>
              <a:rPr lang="en-US" dirty="0" err="1"/>
              <a:t>décrit</a:t>
            </a:r>
            <a:r>
              <a:rPr lang="en-US" dirty="0"/>
              <a:t> </a:t>
            </a:r>
            <a:r>
              <a:rPr lang="en-US" dirty="0" err="1"/>
              <a:t>l’architecture</a:t>
            </a:r>
            <a:r>
              <a:rPr lang="en-US" dirty="0"/>
              <a:t> </a:t>
            </a:r>
            <a:r>
              <a:rPr lang="en-US" dirty="0" err="1"/>
              <a:t>logicielle</a:t>
            </a:r>
            <a:r>
              <a:rPr lang="en-US" dirty="0"/>
              <a:t>, les </a:t>
            </a:r>
            <a:r>
              <a:rPr lang="en-US" dirty="0" err="1"/>
              <a:t>choix</a:t>
            </a:r>
            <a:r>
              <a:rPr lang="en-US" dirty="0"/>
              <a:t> techniques et la </a:t>
            </a:r>
            <a:r>
              <a:rPr lang="en-US" dirty="0" err="1"/>
              <a:t>modélisation</a:t>
            </a:r>
            <a:r>
              <a:rPr lang="en-US" dirty="0"/>
              <a:t> UML du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b="1" dirty="0"/>
              <a:t>Web HTOP </a:t>
            </a:r>
            <a:r>
              <a:rPr lang="en-US" b="1" dirty="0" err="1"/>
              <a:t>Évolué</a:t>
            </a:r>
            <a:r>
              <a:rPr lang="en-US" b="1" dirty="0"/>
              <a:t> </a:t>
            </a:r>
            <a:r>
              <a:rPr lang="en-US" b="1" dirty="0" smtClean="0"/>
              <a:t> </a:t>
            </a:r>
            <a:r>
              <a:rPr lang="en-US" b="1" dirty="0" err="1"/>
              <a:t>Cas</a:t>
            </a:r>
            <a:r>
              <a:rPr lang="en-US" b="1" dirty="0"/>
              <a:t> de Fedora</a:t>
            </a:r>
            <a:r>
              <a:rPr lang="en-US" dirty="0"/>
              <a:t>. Il fait suite au dossier </a:t>
            </a:r>
            <a:r>
              <a:rPr lang="en-US" dirty="0" err="1"/>
              <a:t>d’analyse</a:t>
            </a:r>
            <a:r>
              <a:rPr lang="en-US" dirty="0"/>
              <a:t> et </a:t>
            </a:r>
            <a:r>
              <a:rPr lang="en-US" dirty="0" err="1"/>
              <a:t>s’appuie</a:t>
            </a:r>
            <a:r>
              <a:rPr lang="en-US" dirty="0"/>
              <a:t> </a:t>
            </a:r>
            <a:r>
              <a:rPr lang="en-US" dirty="0" err="1"/>
              <a:t>strictement</a:t>
            </a:r>
            <a:r>
              <a:rPr lang="en-US" dirty="0"/>
              <a:t> sur les </a:t>
            </a:r>
            <a:r>
              <a:rPr lang="en-US" dirty="0" err="1"/>
              <a:t>exigences</a:t>
            </a:r>
            <a:r>
              <a:rPr lang="en-US" dirty="0"/>
              <a:t> </a:t>
            </a:r>
            <a:r>
              <a:rPr lang="en-US" dirty="0" err="1"/>
              <a:t>fonctionnelles</a:t>
            </a:r>
            <a:r>
              <a:rPr lang="en-US" dirty="0"/>
              <a:t> et non </a:t>
            </a:r>
            <a:r>
              <a:rPr lang="en-US" dirty="0" err="1"/>
              <a:t>fonctionnelles</a:t>
            </a:r>
            <a:r>
              <a:rPr lang="en-US" dirty="0"/>
              <a:t> </a:t>
            </a:r>
            <a:r>
              <a:rPr lang="en-US" dirty="0" err="1"/>
              <a:t>définies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le cahier des charges.</a:t>
            </a:r>
            <a:endParaRPr lang="fr-FR" dirty="0"/>
          </a:p>
          <a:p>
            <a:pPr algn="just"/>
            <a:r>
              <a:rPr lang="en-US" dirty="0" err="1"/>
              <a:t>L’objectif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document </a:t>
            </a:r>
            <a:r>
              <a:rPr lang="en-US" dirty="0" err="1"/>
              <a:t>est</a:t>
            </a:r>
            <a:r>
              <a:rPr lang="en-US" dirty="0"/>
              <a:t> de </a:t>
            </a:r>
            <a:r>
              <a:rPr lang="en-US" dirty="0" err="1"/>
              <a:t>fournir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vision </a:t>
            </a:r>
            <a:r>
              <a:rPr lang="en-US" dirty="0" err="1"/>
              <a:t>claire</a:t>
            </a:r>
            <a:r>
              <a:rPr lang="en-US" dirty="0"/>
              <a:t> et </a:t>
            </a:r>
            <a:r>
              <a:rPr lang="en-US" dirty="0" err="1"/>
              <a:t>structurée</a:t>
            </a:r>
            <a:r>
              <a:rPr lang="en-US" dirty="0"/>
              <a:t> de la solution </a:t>
            </a:r>
            <a:r>
              <a:rPr lang="en-US" dirty="0" err="1"/>
              <a:t>avant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réalisation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détaillant</a:t>
            </a:r>
            <a:r>
              <a:rPr lang="en-US" dirty="0"/>
              <a:t> : </a:t>
            </a:r>
            <a:r>
              <a:rPr lang="en-US" dirty="0" err="1" smtClean="0"/>
              <a:t>l’architecture</a:t>
            </a:r>
            <a:r>
              <a:rPr lang="en-US" dirty="0" smtClean="0"/>
              <a:t> </a:t>
            </a:r>
            <a:r>
              <a:rPr lang="en-US" dirty="0" err="1"/>
              <a:t>globale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 smtClean="0"/>
              <a:t>, </a:t>
            </a:r>
            <a:r>
              <a:rPr lang="en-US" dirty="0"/>
              <a:t>la </a:t>
            </a:r>
            <a:r>
              <a:rPr lang="en-US" dirty="0" err="1"/>
              <a:t>décomposition</a:t>
            </a:r>
            <a:r>
              <a:rPr lang="en-US" dirty="0"/>
              <a:t> </a:t>
            </a:r>
            <a:r>
              <a:rPr lang="en-US" dirty="0" err="1"/>
              <a:t>logicielle</a:t>
            </a:r>
            <a:r>
              <a:rPr lang="en-US" dirty="0"/>
              <a:t>, </a:t>
            </a:r>
            <a:r>
              <a:rPr lang="en-US" dirty="0" smtClean="0"/>
              <a:t> </a:t>
            </a:r>
            <a:r>
              <a:rPr lang="en-US" dirty="0"/>
              <a:t>les </a:t>
            </a:r>
            <a:r>
              <a:rPr lang="en-US" dirty="0" err="1"/>
              <a:t>diagrammes</a:t>
            </a:r>
            <a:r>
              <a:rPr lang="en-US" dirty="0"/>
              <a:t> UML (use case, classes, </a:t>
            </a:r>
            <a:r>
              <a:rPr lang="en-US" dirty="0" err="1" smtClean="0"/>
              <a:t>séquence</a:t>
            </a:r>
            <a:r>
              <a:rPr lang="en-US" dirty="0" smtClean="0"/>
              <a:t>) et </a:t>
            </a:r>
            <a:r>
              <a:rPr lang="en-US" dirty="0"/>
              <a:t>la description </a:t>
            </a:r>
            <a:r>
              <a:rPr lang="en-US" dirty="0" err="1"/>
              <a:t>textuelle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diagramme</a:t>
            </a:r>
            <a:r>
              <a:rPr lang="en-US" dirty="0"/>
              <a:t>.</a:t>
            </a:r>
            <a:endParaRPr lang="fr-FR" dirty="0"/>
          </a:p>
          <a:p>
            <a:pPr>
              <a:lnSpc>
                <a:spcPct val="150000"/>
              </a:lnSpc>
            </a:pPr>
            <a:endParaRPr lang="fr-FR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445" y="552619"/>
            <a:ext cx="8970027" cy="80454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4400" b="1" dirty="0" smtClean="0">
                <a:solidFill>
                  <a:srgbClr val="00B050"/>
                </a:solidFill>
              </a:rPr>
              <a:t>ARCHITECTURE GLOBAL DU SYSTEME</a:t>
            </a:r>
            <a:endParaRPr lang="fr-FR" sz="4400" b="1" dirty="0">
              <a:solidFill>
                <a:srgbClr val="00B050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481" y="1345720"/>
            <a:ext cx="10962421" cy="5193103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r>
              <a:rPr lang="fr-FR" sz="2000" dirty="0">
                <a:solidFill>
                  <a:srgbClr val="00B050"/>
                </a:solidFill>
              </a:rPr>
              <a:t>	</a:t>
            </a:r>
            <a:r>
              <a:rPr lang="en-US" b="1" dirty="0"/>
              <a:t>2.1 </a:t>
            </a:r>
            <a:r>
              <a:rPr lang="en-US" b="1" dirty="0" err="1"/>
              <a:t>Vue</a:t>
            </a:r>
            <a:r>
              <a:rPr lang="en-US" b="1" dirty="0"/>
              <a:t> </a:t>
            </a:r>
            <a:r>
              <a:rPr lang="en-US" b="1" dirty="0" err="1"/>
              <a:t>d’ensemble</a:t>
            </a:r>
            <a:endParaRPr lang="fr-FR" b="1" dirty="0"/>
          </a:p>
          <a:p>
            <a:r>
              <a:rPr lang="en-US" dirty="0"/>
              <a:t>Le Web HTOP </a:t>
            </a:r>
            <a:r>
              <a:rPr lang="en-US" dirty="0" err="1"/>
              <a:t>Évolué</a:t>
            </a:r>
            <a:r>
              <a:rPr lang="en-US" dirty="0"/>
              <a:t> repose sur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/>
              <a:t>architecture client–</a:t>
            </a:r>
            <a:r>
              <a:rPr lang="en-US" b="1" dirty="0" err="1"/>
              <a:t>serveur</a:t>
            </a:r>
            <a:r>
              <a:rPr lang="en-US" b="1" dirty="0"/>
              <a:t> à </a:t>
            </a:r>
            <a:r>
              <a:rPr lang="en-US" b="1" dirty="0" err="1"/>
              <a:t>trois</a:t>
            </a:r>
            <a:r>
              <a:rPr lang="en-US" b="1" dirty="0"/>
              <a:t> couches</a:t>
            </a:r>
            <a:r>
              <a:rPr lang="en-US" dirty="0"/>
              <a:t> :</a:t>
            </a:r>
            <a:endParaRPr lang="fr-FR" dirty="0"/>
          </a:p>
          <a:p>
            <a:pPr lvl="0"/>
            <a:r>
              <a:rPr lang="en-US" b="1" dirty="0"/>
              <a:t>Couche </a:t>
            </a:r>
            <a:r>
              <a:rPr lang="en-US" b="1" dirty="0" err="1"/>
              <a:t>présentation</a:t>
            </a:r>
            <a:r>
              <a:rPr lang="en-US" b="1" dirty="0"/>
              <a:t> (Front-end)</a:t>
            </a:r>
            <a:endParaRPr lang="fr-FR" dirty="0"/>
          </a:p>
          <a:p>
            <a:pPr lvl="1"/>
            <a:r>
              <a:rPr lang="en-US" dirty="0"/>
              <a:t>Interface web accessible via </a:t>
            </a:r>
            <a:r>
              <a:rPr lang="en-US" dirty="0" err="1" smtClean="0"/>
              <a:t>navigateur</a:t>
            </a:r>
            <a:endParaRPr lang="fr-FR" dirty="0"/>
          </a:p>
          <a:p>
            <a:pPr lvl="0"/>
            <a:r>
              <a:rPr lang="en-US" b="1" dirty="0"/>
              <a:t>Couche applicative (Back-end</a:t>
            </a:r>
            <a:r>
              <a:rPr lang="en-US" b="1" dirty="0" smtClean="0"/>
              <a:t>)</a:t>
            </a:r>
            <a:endParaRPr lang="fr-FR" dirty="0"/>
          </a:p>
          <a:p>
            <a:pPr lvl="1"/>
            <a:r>
              <a:rPr lang="en-US" dirty="0" err="1"/>
              <a:t>Logique</a:t>
            </a:r>
            <a:r>
              <a:rPr lang="en-US" dirty="0"/>
              <a:t> métier et </a:t>
            </a:r>
            <a:r>
              <a:rPr lang="en-US" dirty="0" err="1"/>
              <a:t>contrôle</a:t>
            </a:r>
            <a:r>
              <a:rPr lang="en-US" dirty="0"/>
              <a:t> </a:t>
            </a:r>
            <a:r>
              <a:rPr lang="en-US" dirty="0" err="1"/>
              <a:t>d’accès</a:t>
            </a:r>
            <a:endParaRPr lang="fr-FR" dirty="0"/>
          </a:p>
          <a:p>
            <a:pPr lvl="1"/>
            <a:r>
              <a:rPr lang="en-US" dirty="0" smtClean="0"/>
              <a:t>Exposition via </a:t>
            </a:r>
            <a:r>
              <a:rPr lang="en-US" dirty="0"/>
              <a:t>HTTP</a:t>
            </a:r>
            <a:endParaRPr lang="fr-FR" dirty="0"/>
          </a:p>
          <a:p>
            <a:pPr lvl="0"/>
            <a:r>
              <a:rPr lang="en-US" b="1" dirty="0"/>
              <a:t>Couche </a:t>
            </a:r>
            <a:r>
              <a:rPr lang="en-US" b="1" dirty="0" err="1"/>
              <a:t>système</a:t>
            </a:r>
            <a:r>
              <a:rPr lang="en-US" b="1" dirty="0"/>
              <a:t> (</a:t>
            </a:r>
            <a:r>
              <a:rPr lang="en-US" b="1" dirty="0" err="1"/>
              <a:t>Système</a:t>
            </a:r>
            <a:r>
              <a:rPr lang="en-US" b="1" dirty="0"/>
              <a:t> Fedora)</a:t>
            </a:r>
            <a:endParaRPr lang="fr-FR" dirty="0"/>
          </a:p>
          <a:p>
            <a:pPr lvl="1"/>
            <a:r>
              <a:rPr lang="en-US" dirty="0" err="1"/>
              <a:t>Accès</a:t>
            </a:r>
            <a:r>
              <a:rPr lang="en-US" dirty="0"/>
              <a:t> aux </a:t>
            </a:r>
            <a:r>
              <a:rPr lang="en-US" dirty="0" err="1"/>
              <a:t>informations</a:t>
            </a:r>
            <a:r>
              <a:rPr lang="en-US" dirty="0"/>
              <a:t> des </a:t>
            </a:r>
            <a:r>
              <a:rPr lang="en-US" dirty="0" err="1"/>
              <a:t>processus</a:t>
            </a:r>
            <a:endParaRPr lang="fr-FR" dirty="0"/>
          </a:p>
          <a:p>
            <a:pPr marL="118872" lvl="1" indent="0">
              <a:buNone/>
            </a:pPr>
            <a:endParaRPr lang="fr-FR" dirty="0"/>
          </a:p>
          <a:p>
            <a:pPr>
              <a:lnSpc>
                <a:spcPct val="150000"/>
              </a:lnSpc>
            </a:pPr>
            <a:endParaRPr lang="fr-FR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5507" y="928688"/>
            <a:ext cx="7965461" cy="99416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en-US" dirty="0"/>
              <a:t>2.2 Description </a:t>
            </a:r>
            <a:r>
              <a:rPr lang="en-US" dirty="0" err="1"/>
              <a:t>textuelle</a:t>
            </a:r>
            <a:r>
              <a:rPr lang="en-US" dirty="0"/>
              <a:t> de </a:t>
            </a:r>
            <a:r>
              <a:rPr lang="en-US" dirty="0" err="1"/>
              <a:t>l’architecture</a:t>
            </a:r>
            <a:r>
              <a:rPr lang="fr-FR" dirty="0"/>
              <a:t/>
            </a:r>
            <a:br>
              <a:rPr lang="fr-FR" dirty="0"/>
            </a:br>
            <a:endParaRPr lang="fr-FR" sz="4800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5508" y="2705415"/>
            <a:ext cx="7965460" cy="349769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L’utilisateur</a:t>
            </a:r>
            <a:r>
              <a:rPr lang="en-US" dirty="0"/>
              <a:t> </a:t>
            </a:r>
            <a:r>
              <a:rPr lang="en-US" dirty="0" err="1"/>
              <a:t>interagit</a:t>
            </a:r>
            <a:r>
              <a:rPr lang="en-US" dirty="0"/>
              <a:t> avec </a:t>
            </a:r>
            <a:r>
              <a:rPr lang="en-US" dirty="0" err="1"/>
              <a:t>l’application</a:t>
            </a:r>
            <a:r>
              <a:rPr lang="en-US" dirty="0"/>
              <a:t> via un </a:t>
            </a:r>
            <a:r>
              <a:rPr lang="en-US" dirty="0" err="1"/>
              <a:t>navigateur</a:t>
            </a:r>
            <a:r>
              <a:rPr lang="en-US" dirty="0"/>
              <a:t> web. Les </a:t>
            </a:r>
            <a:r>
              <a:rPr lang="en-US" dirty="0" err="1"/>
              <a:t>requêtes</a:t>
            </a:r>
            <a:r>
              <a:rPr lang="en-US" dirty="0"/>
              <a:t> HTTP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envoyées</a:t>
            </a:r>
            <a:r>
              <a:rPr lang="en-US" dirty="0"/>
              <a:t> au </a:t>
            </a:r>
            <a:r>
              <a:rPr lang="en-US" dirty="0" err="1"/>
              <a:t>serveur</a:t>
            </a:r>
            <a:r>
              <a:rPr lang="en-US" dirty="0"/>
              <a:t> Flask, qui </a:t>
            </a:r>
            <a:r>
              <a:rPr lang="en-US" dirty="0" err="1"/>
              <a:t>joue</a:t>
            </a:r>
            <a:r>
              <a:rPr lang="en-US" dirty="0"/>
              <a:t> le </a:t>
            </a:r>
            <a:r>
              <a:rPr lang="en-US" dirty="0" err="1"/>
              <a:t>rôle</a:t>
            </a:r>
            <a:r>
              <a:rPr lang="en-US" dirty="0"/>
              <a:t> de </a:t>
            </a:r>
            <a:r>
              <a:rPr lang="en-US" dirty="0" err="1"/>
              <a:t>contrôleur</a:t>
            </a:r>
            <a:r>
              <a:rPr lang="en-US" dirty="0"/>
              <a:t> central. </a:t>
            </a:r>
            <a:r>
              <a:rPr lang="en-US" dirty="0" err="1"/>
              <a:t>Celui</a:t>
            </a:r>
            <a:r>
              <a:rPr lang="en-US" dirty="0"/>
              <a:t>-ci </a:t>
            </a:r>
            <a:r>
              <a:rPr lang="en-US" dirty="0" err="1"/>
              <a:t>interroge</a:t>
            </a:r>
            <a:r>
              <a:rPr lang="en-US" dirty="0"/>
              <a:t> le </a:t>
            </a:r>
            <a:r>
              <a:rPr lang="en-US" dirty="0" err="1"/>
              <a:t>système</a:t>
            </a:r>
            <a:r>
              <a:rPr lang="en-US" dirty="0"/>
              <a:t> Fedora à </a:t>
            </a:r>
            <a:r>
              <a:rPr lang="en-US" dirty="0" err="1"/>
              <a:t>l’aide</a:t>
            </a:r>
            <a:r>
              <a:rPr lang="en-US" dirty="0"/>
              <a:t> de </a:t>
            </a:r>
            <a:r>
              <a:rPr lang="en-US" dirty="0" err="1"/>
              <a:t>bibliothèques</a:t>
            </a:r>
            <a:r>
              <a:rPr lang="en-US" dirty="0"/>
              <a:t> Python </a:t>
            </a:r>
            <a:r>
              <a:rPr lang="en-US" dirty="0" err="1"/>
              <a:t>spécialisées</a:t>
            </a:r>
            <a:r>
              <a:rPr lang="en-US" dirty="0"/>
              <a:t> (</a:t>
            </a:r>
            <a:r>
              <a:rPr lang="en-US" dirty="0" err="1"/>
              <a:t>psutil</a:t>
            </a:r>
            <a:r>
              <a:rPr lang="en-US" dirty="0"/>
              <a:t>) et,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nécessaire</a:t>
            </a:r>
            <a:r>
              <a:rPr lang="en-US" dirty="0"/>
              <a:t>, via </a:t>
            </a:r>
            <a:r>
              <a:rPr lang="en-US" dirty="0" err="1"/>
              <a:t>l’accès</a:t>
            </a:r>
            <a:r>
              <a:rPr lang="en-US" dirty="0"/>
              <a:t> </a:t>
            </a:r>
            <a:r>
              <a:rPr lang="en-US" dirty="0" err="1"/>
              <a:t>contrôlé</a:t>
            </a:r>
            <a:r>
              <a:rPr lang="en-US" dirty="0"/>
              <a:t> au </a:t>
            </a:r>
            <a:r>
              <a:rPr lang="en-US" dirty="0" err="1"/>
              <a:t>système</a:t>
            </a:r>
            <a:r>
              <a:rPr lang="en-US" dirty="0"/>
              <a:t> de </a:t>
            </a:r>
            <a:r>
              <a:rPr lang="en-US" dirty="0" err="1"/>
              <a:t>fichiers</a:t>
            </a:r>
            <a:r>
              <a:rPr lang="en-US" dirty="0"/>
              <a:t> /proc. 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collectées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ensuite</a:t>
            </a:r>
            <a:r>
              <a:rPr lang="en-US" dirty="0"/>
              <a:t> </a:t>
            </a:r>
            <a:r>
              <a:rPr lang="en-US" dirty="0" err="1"/>
              <a:t>formatées</a:t>
            </a:r>
            <a:r>
              <a:rPr lang="en-US" dirty="0"/>
              <a:t> et </a:t>
            </a:r>
            <a:r>
              <a:rPr lang="en-US" dirty="0" err="1"/>
              <a:t>renvoyées</a:t>
            </a:r>
            <a:r>
              <a:rPr lang="en-US" dirty="0"/>
              <a:t> au client sous </a:t>
            </a:r>
            <a:r>
              <a:rPr lang="en-US" dirty="0" err="1"/>
              <a:t>forme</a:t>
            </a:r>
            <a:r>
              <a:rPr lang="en-US" dirty="0"/>
              <a:t> de pages HTML.</a:t>
            </a:r>
            <a:endParaRPr lang="fr-FR" dirty="0"/>
          </a:p>
          <a:p>
            <a:pPr marL="0" indent="0">
              <a:lnSpc>
                <a:spcPct val="150000"/>
              </a:lnSpc>
              <a:buNone/>
            </a:pPr>
            <a:endParaRPr lang="fr-FR" sz="2000" dirty="0">
              <a:solidFill>
                <a:srgbClr val="00B050"/>
              </a:solidFill>
            </a:endParaRP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0082" y="327264"/>
            <a:ext cx="6651743" cy="120284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4000" dirty="0" smtClean="0">
                <a:solidFill>
                  <a:srgbClr val="00B050"/>
                </a:solidFill>
              </a:rPr>
              <a:t>ARCHITECTURE </a:t>
            </a:r>
            <a:r>
              <a:rPr lang="fr-FR" sz="4000" dirty="0">
                <a:solidFill>
                  <a:srgbClr val="00B050"/>
                </a:solidFill>
              </a:rPr>
              <a:t>LOGICIEL </a:t>
            </a:r>
            <a:r>
              <a:rPr lang="fr-FR" sz="4000" dirty="0" smtClean="0">
                <a:solidFill>
                  <a:srgbClr val="00B050"/>
                </a:solidFill>
              </a:rPr>
              <a:t/>
            </a:r>
            <a:br>
              <a:rPr lang="fr-FR" sz="4000" dirty="0" smtClean="0">
                <a:solidFill>
                  <a:srgbClr val="00B050"/>
                </a:solidFill>
              </a:rPr>
            </a:br>
            <a:r>
              <a:rPr lang="fr-FR" sz="4000" dirty="0" smtClean="0">
                <a:solidFill>
                  <a:srgbClr val="00B050"/>
                </a:solidFill>
              </a:rPr>
              <a:t>INTERNE</a:t>
            </a:r>
            <a:r>
              <a:rPr lang="fr-FR" sz="4000" dirty="0">
                <a:solidFill>
                  <a:srgbClr val="00B050"/>
                </a:solidFill>
              </a:rPr>
              <a:t/>
            </a:r>
            <a:br>
              <a:rPr lang="fr-FR" sz="4000" dirty="0">
                <a:solidFill>
                  <a:srgbClr val="00B050"/>
                </a:solidFill>
              </a:rPr>
            </a:br>
            <a:endParaRPr lang="fr-FR" sz="4000" dirty="0">
              <a:solidFill>
                <a:srgbClr val="00B050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/>
              <a:t>6</a:t>
            </a:fld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640082" y="1380226"/>
            <a:ext cx="8551918" cy="4641012"/>
          </a:xfrm>
          <a:solidFill>
            <a:schemeClr val="bg1"/>
          </a:solidFill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r>
              <a:rPr lang="en-US" b="1" dirty="0"/>
              <a:t>3.1 </a:t>
            </a:r>
            <a:r>
              <a:rPr lang="en-US" b="1" dirty="0" err="1"/>
              <a:t>Découpage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</a:t>
            </a:r>
            <a:r>
              <a:rPr lang="en-US" b="1" dirty="0" smtClean="0"/>
              <a:t>modules</a:t>
            </a:r>
            <a:endParaRPr lang="fr-FR" b="1" dirty="0"/>
          </a:p>
          <a:p>
            <a:r>
              <a:rPr lang="en-US" dirty="0" err="1"/>
              <a:t>L’application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organisée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modules </a:t>
            </a:r>
            <a:r>
              <a:rPr lang="en-US" dirty="0" err="1"/>
              <a:t>logiques</a:t>
            </a:r>
            <a:r>
              <a:rPr lang="en-US" dirty="0"/>
              <a:t> :</a:t>
            </a:r>
            <a:endParaRPr lang="fr-FR" dirty="0"/>
          </a:p>
          <a:p>
            <a:pPr lvl="0"/>
            <a:r>
              <a:rPr lang="en-US" b="1" dirty="0" err="1"/>
              <a:t>WebController</a:t>
            </a:r>
            <a:r>
              <a:rPr lang="en-US" dirty="0"/>
              <a:t> : </a:t>
            </a:r>
            <a:r>
              <a:rPr lang="en-US" dirty="0" err="1"/>
              <a:t>gestion</a:t>
            </a:r>
            <a:r>
              <a:rPr lang="en-US" dirty="0"/>
              <a:t> des routes HTTP et des </a:t>
            </a:r>
            <a:r>
              <a:rPr lang="en-US" dirty="0" err="1"/>
              <a:t>requêtes</a:t>
            </a:r>
            <a:r>
              <a:rPr lang="en-US" dirty="0"/>
              <a:t> </a:t>
            </a:r>
            <a:r>
              <a:rPr lang="en-US" dirty="0" err="1"/>
              <a:t>utilisateurs</a:t>
            </a:r>
            <a:endParaRPr lang="fr-FR" dirty="0"/>
          </a:p>
          <a:p>
            <a:pPr lvl="0"/>
            <a:r>
              <a:rPr lang="en-US" b="1" dirty="0" err="1"/>
              <a:t>ProcessService</a:t>
            </a:r>
            <a:r>
              <a:rPr lang="en-US" dirty="0"/>
              <a:t> : </a:t>
            </a:r>
            <a:r>
              <a:rPr lang="en-US" dirty="0" err="1"/>
              <a:t>logique</a:t>
            </a:r>
            <a:r>
              <a:rPr lang="en-US" dirty="0"/>
              <a:t> métier </a:t>
            </a:r>
            <a:r>
              <a:rPr lang="en-US" dirty="0" err="1"/>
              <a:t>liée</a:t>
            </a:r>
            <a:r>
              <a:rPr lang="en-US" dirty="0"/>
              <a:t> aux </a:t>
            </a:r>
            <a:r>
              <a:rPr lang="en-US" dirty="0" err="1"/>
              <a:t>processus</a:t>
            </a:r>
            <a:endParaRPr lang="fr-FR" dirty="0"/>
          </a:p>
          <a:p>
            <a:pPr lvl="0"/>
            <a:r>
              <a:rPr lang="en-US" b="1" dirty="0" err="1"/>
              <a:t>SystemAccess</a:t>
            </a:r>
            <a:r>
              <a:rPr lang="en-US" dirty="0"/>
              <a:t> : </a:t>
            </a:r>
            <a:r>
              <a:rPr lang="en-US" dirty="0" err="1"/>
              <a:t>accès</a:t>
            </a:r>
            <a:r>
              <a:rPr lang="en-US" dirty="0"/>
              <a:t> aux </a:t>
            </a:r>
            <a:r>
              <a:rPr lang="en-US" dirty="0" err="1"/>
              <a:t>ressources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 </a:t>
            </a:r>
            <a:endParaRPr lang="fr-FR" dirty="0"/>
          </a:p>
          <a:p>
            <a:pPr lvl="0"/>
            <a:r>
              <a:rPr lang="en-US" b="1" dirty="0" err="1"/>
              <a:t>SecurityManager</a:t>
            </a:r>
            <a:r>
              <a:rPr lang="en-US" dirty="0"/>
              <a:t> : </a:t>
            </a:r>
            <a:r>
              <a:rPr lang="en-US" dirty="0" err="1"/>
              <a:t>vérification</a:t>
            </a:r>
            <a:r>
              <a:rPr lang="en-US" dirty="0"/>
              <a:t> des permissions</a:t>
            </a:r>
            <a:endParaRPr lang="fr-FR" dirty="0"/>
          </a:p>
          <a:p>
            <a:r>
              <a:rPr lang="en-US" b="1" dirty="0" err="1"/>
              <a:t>ViewTemplates</a:t>
            </a:r>
            <a:r>
              <a:rPr lang="en-US" dirty="0"/>
              <a:t> : </a:t>
            </a:r>
            <a:r>
              <a:rPr lang="en-US" dirty="0" err="1"/>
              <a:t>rendu</a:t>
            </a:r>
            <a:r>
              <a:rPr lang="en-US" dirty="0"/>
              <a:t> HTML (Bootstrap)</a:t>
            </a:r>
            <a:endParaRPr lang="fr-FR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A69B026-CCD7-8367-4A5B-3515C9857B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7</a:t>
            </a:fld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DECE0F7-8672-B274-769D-3F7C26D79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944" y="177379"/>
            <a:ext cx="6651743" cy="120284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4800" dirty="0" smtClean="0">
                <a:solidFill>
                  <a:srgbClr val="00B050"/>
                </a:solidFill>
              </a:rPr>
              <a:t>DESCRIPTION TEXTUELLE</a:t>
            </a:r>
            <a:endParaRPr lang="fr-FR" sz="4800" dirty="0">
              <a:solidFill>
                <a:srgbClr val="00B050"/>
              </a:solidFill>
            </a:endParaRPr>
          </a:p>
        </p:txBody>
      </p:sp>
      <p:sp>
        <p:nvSpPr>
          <p:cNvPr id="6" name="Espace réservé du numéro de diapositive 2">
            <a:extLst>
              <a:ext uri="{FF2B5EF4-FFF2-40B4-BE49-F238E27FC236}">
                <a16:creationId xmlns:a16="http://schemas.microsoft.com/office/drawing/2014/main" id="{3BA7A762-E872-ABB6-3EC2-A503ED420969}"/>
              </a:ext>
            </a:extLst>
          </p:cNvPr>
          <p:cNvSpPr txBox="1">
            <a:spLocks/>
          </p:cNvSpPr>
          <p:nvPr/>
        </p:nvSpPr>
        <p:spPr>
          <a:xfrm>
            <a:off x="10438475" y="457199"/>
            <a:ext cx="987552" cy="471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lang="fr-FR"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fr-FR" smtClean="0"/>
              <a:pPr/>
              <a:t>7</a:t>
            </a:fld>
            <a:endParaRPr lang="fr-FR" dirty="0"/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11FF82FF-FF24-869B-2A39-D15B1A24718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195867" y="1380226"/>
            <a:ext cx="9073887" cy="3726612"/>
          </a:xfrm>
          <a:solidFill>
            <a:schemeClr val="bg1"/>
          </a:solidFill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>
              <a:lnSpc>
                <a:spcPct val="150000"/>
              </a:lnSpc>
            </a:pPr>
            <a:r>
              <a:rPr lang="en-US" dirty="0"/>
              <a:t>Le module </a:t>
            </a:r>
            <a:r>
              <a:rPr lang="en-US" dirty="0" err="1"/>
              <a:t>WebController</a:t>
            </a:r>
            <a:r>
              <a:rPr lang="en-US" dirty="0"/>
              <a:t> </a:t>
            </a:r>
            <a:r>
              <a:rPr lang="en-US" dirty="0" err="1"/>
              <a:t>reçoit</a:t>
            </a:r>
            <a:r>
              <a:rPr lang="en-US" dirty="0"/>
              <a:t> les </a:t>
            </a:r>
            <a:r>
              <a:rPr lang="en-US" dirty="0" err="1"/>
              <a:t>requêtes</a:t>
            </a:r>
            <a:r>
              <a:rPr lang="en-US" dirty="0"/>
              <a:t> de </a:t>
            </a:r>
            <a:r>
              <a:rPr lang="en-US" dirty="0" err="1"/>
              <a:t>l’utilisateur</a:t>
            </a:r>
            <a:r>
              <a:rPr lang="en-US" dirty="0"/>
              <a:t> et </a:t>
            </a:r>
            <a:r>
              <a:rPr lang="en-US" dirty="0" err="1"/>
              <a:t>délègue</a:t>
            </a:r>
            <a:r>
              <a:rPr lang="en-US" dirty="0"/>
              <a:t> les </a:t>
            </a:r>
            <a:r>
              <a:rPr lang="en-US" dirty="0" err="1"/>
              <a:t>traitements</a:t>
            </a:r>
            <a:r>
              <a:rPr lang="en-US" dirty="0"/>
              <a:t> au </a:t>
            </a:r>
            <a:r>
              <a:rPr lang="en-US" dirty="0" err="1"/>
              <a:t>ProcessService</a:t>
            </a:r>
            <a:r>
              <a:rPr lang="en-US" dirty="0"/>
              <a:t>. </a:t>
            </a:r>
            <a:r>
              <a:rPr lang="en-US" dirty="0" err="1"/>
              <a:t>Celui</a:t>
            </a:r>
            <a:r>
              <a:rPr lang="en-US" dirty="0"/>
              <a:t>-ci </a:t>
            </a:r>
            <a:r>
              <a:rPr lang="en-US" dirty="0" err="1"/>
              <a:t>s’appuie</a:t>
            </a:r>
            <a:r>
              <a:rPr lang="en-US" dirty="0"/>
              <a:t> sur </a:t>
            </a:r>
            <a:r>
              <a:rPr lang="en-US" dirty="0" err="1"/>
              <a:t>SystemAccess</a:t>
            </a:r>
            <a:r>
              <a:rPr lang="en-US" dirty="0"/>
              <a:t> pour </a:t>
            </a:r>
            <a:r>
              <a:rPr lang="en-US" dirty="0" err="1"/>
              <a:t>collecter</a:t>
            </a:r>
            <a:r>
              <a:rPr lang="en-US" dirty="0"/>
              <a:t> les </a:t>
            </a:r>
            <a:r>
              <a:rPr lang="en-US" dirty="0" err="1"/>
              <a:t>données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. Avant </a:t>
            </a:r>
            <a:r>
              <a:rPr lang="en-US" dirty="0" err="1"/>
              <a:t>toute</a:t>
            </a:r>
            <a:r>
              <a:rPr lang="en-US" dirty="0"/>
              <a:t> action sensible (ex. modification de </a:t>
            </a:r>
            <a:r>
              <a:rPr lang="en-US" dirty="0" err="1"/>
              <a:t>priorité</a:t>
            </a:r>
            <a:r>
              <a:rPr lang="en-US" dirty="0"/>
              <a:t>), le </a:t>
            </a:r>
            <a:r>
              <a:rPr lang="en-US" dirty="0" err="1"/>
              <a:t>SecurityManager</a:t>
            </a:r>
            <a:r>
              <a:rPr lang="en-US" dirty="0"/>
              <a:t> </a:t>
            </a:r>
            <a:r>
              <a:rPr lang="en-US" dirty="0" err="1"/>
              <a:t>vérifie</a:t>
            </a:r>
            <a:r>
              <a:rPr lang="en-US" dirty="0"/>
              <a:t> les droits </a:t>
            </a:r>
            <a:r>
              <a:rPr lang="en-US" dirty="0" err="1"/>
              <a:t>disponibles</a:t>
            </a:r>
            <a:r>
              <a:rPr lang="en-US" dirty="0"/>
              <a:t>. Les </a:t>
            </a:r>
            <a:r>
              <a:rPr lang="en-US" dirty="0" err="1"/>
              <a:t>résultats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ensuite</a:t>
            </a:r>
            <a:r>
              <a:rPr lang="en-US" dirty="0"/>
              <a:t> </a:t>
            </a:r>
            <a:r>
              <a:rPr lang="en-US" dirty="0" err="1"/>
              <a:t>renvoyés</a:t>
            </a:r>
            <a:r>
              <a:rPr lang="en-US" dirty="0"/>
              <a:t> au front-end via des templates </a:t>
            </a:r>
            <a:r>
              <a:rPr lang="en-US" dirty="0" err="1"/>
              <a:t>ou</a:t>
            </a:r>
            <a:r>
              <a:rPr lang="en-US" dirty="0"/>
              <a:t> des </a:t>
            </a:r>
            <a:r>
              <a:rPr lang="en-US" dirty="0" err="1"/>
              <a:t>réponses</a:t>
            </a:r>
            <a:r>
              <a:rPr lang="en-US" dirty="0"/>
              <a:t> API.</a:t>
            </a:r>
            <a:endParaRPr lang="fr-FR" dirty="0"/>
          </a:p>
          <a:p>
            <a:pPr rtl="0">
              <a:lnSpc>
                <a:spcPct val="150000"/>
              </a:lnSpc>
            </a:pPr>
            <a:endParaRPr lang="fr-FR" sz="2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680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2">
            <a:extLst>
              <a:ext uri="{FF2B5EF4-FFF2-40B4-BE49-F238E27FC236}">
                <a16:creationId xmlns:a16="http://schemas.microsoft.com/office/drawing/2014/main" id="{56FB766A-A0C4-A517-61B4-948018211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8</a:t>
            </a:fld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2C7ED2E-23CE-246C-A895-29E508817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0944" y="177379"/>
            <a:ext cx="6651743" cy="120284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4800" dirty="0" smtClean="0">
                <a:solidFill>
                  <a:srgbClr val="00B050"/>
                </a:solidFill>
              </a:rPr>
              <a:t>PRESENTATION DES DIAGRAMMES</a:t>
            </a:r>
            <a:endParaRPr lang="fr-FR" sz="4800" dirty="0">
              <a:solidFill>
                <a:srgbClr val="00B050"/>
              </a:solidFill>
            </a:endParaRPr>
          </a:p>
        </p:txBody>
      </p:sp>
      <p:sp>
        <p:nvSpPr>
          <p:cNvPr id="7" name="Espace réservé du numéro de diapositive 2">
            <a:extLst>
              <a:ext uri="{FF2B5EF4-FFF2-40B4-BE49-F238E27FC236}">
                <a16:creationId xmlns:a16="http://schemas.microsoft.com/office/drawing/2014/main" id="{EDBC0AEF-6075-7F91-223F-CCE6BB6BBDA0}"/>
              </a:ext>
            </a:extLst>
          </p:cNvPr>
          <p:cNvSpPr txBox="1">
            <a:spLocks/>
          </p:cNvSpPr>
          <p:nvPr/>
        </p:nvSpPr>
        <p:spPr>
          <a:xfrm>
            <a:off x="10438475" y="457199"/>
            <a:ext cx="987552" cy="471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lang="fr-FR" sz="16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fr-FR" smtClean="0"/>
              <a:pPr/>
              <a:t>8</a:t>
            </a:fld>
            <a:endParaRPr lang="fr-FR"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1FA65468-7D11-E152-655C-A2D0131AFA7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39217" y="1627876"/>
            <a:ext cx="6850703" cy="557540"/>
          </a:xfrm>
          <a:solidFill>
            <a:schemeClr val="bg1"/>
          </a:solidFill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r>
              <a:rPr lang="fr-FR" sz="2000" b="1" dirty="0" smtClean="0">
                <a:solidFill>
                  <a:srgbClr val="00B050"/>
                </a:solidFill>
              </a:rPr>
              <a:t>1- DIAGRAMME DE SEQUENCE FERMETURE D’UN PROCESSUS</a:t>
            </a:r>
            <a:endParaRPr lang="fr-FR" sz="2000" b="1" dirty="0">
              <a:solidFill>
                <a:srgbClr val="00B050"/>
              </a:solidFill>
            </a:endParaRPr>
          </a:p>
          <a:p>
            <a:pPr rtl="0">
              <a:lnSpc>
                <a:spcPct val="150000"/>
              </a:lnSpc>
            </a:pPr>
            <a:endParaRPr lang="fr-FR" sz="2000" dirty="0">
              <a:solidFill>
                <a:srgbClr val="00B050"/>
              </a:solidFill>
            </a:endParaRPr>
          </a:p>
        </p:txBody>
      </p:sp>
      <p:sp>
        <p:nvSpPr>
          <p:cNvPr id="2" name="AutoShape 2" descr="blob:https://web.whatsapp.com/a8bf0a84-c9da-43f1-a232-918de43401b4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8979"/>
            <a:ext cx="12192000" cy="48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6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32705" y="248602"/>
            <a:ext cx="7043617" cy="680086"/>
          </a:xfrm>
        </p:spPr>
        <p:txBody>
          <a:bodyPr/>
          <a:lstStyle/>
          <a:p>
            <a:r>
              <a:rPr lang="fr-FR" sz="2400" dirty="0" smtClean="0">
                <a:solidFill>
                  <a:srgbClr val="00B050"/>
                </a:solidFill>
              </a:rPr>
              <a:t>3-</a:t>
            </a:r>
            <a:r>
              <a:rPr lang="fr-FR" sz="2400" dirty="0" smtClean="0"/>
              <a:t> </a:t>
            </a:r>
            <a:r>
              <a:rPr lang="fr-FR" sz="2400" b="1" dirty="0">
                <a:solidFill>
                  <a:srgbClr val="00B050"/>
                </a:solidFill>
              </a:rPr>
              <a:t>DIAGRAMME DE </a:t>
            </a:r>
            <a:r>
              <a:rPr lang="fr-FR" sz="2400" b="1" dirty="0" smtClean="0">
                <a:solidFill>
                  <a:srgbClr val="00B050"/>
                </a:solidFill>
              </a:rPr>
              <a:t>SEQUENCE CHANGEMENT DE PRIORITE </a:t>
            </a:r>
            <a:r>
              <a:rPr lang="fr-FR" sz="2400" b="1" dirty="0">
                <a:solidFill>
                  <a:srgbClr val="00B050"/>
                </a:solidFill>
              </a:rPr>
              <a:t>D’UN </a:t>
            </a:r>
            <a:r>
              <a:rPr lang="fr-FR" sz="2400" b="1" dirty="0" smtClean="0">
                <a:solidFill>
                  <a:srgbClr val="00B050"/>
                </a:solidFill>
              </a:rPr>
              <a:t>PROCESSUS</a:t>
            </a:r>
            <a:endParaRPr lang="fr-FR" sz="2400" b="1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9</a:t>
            </a:fld>
            <a:endParaRPr lang="fr-FR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226"/>
            <a:ext cx="12266645" cy="5796774"/>
          </a:xfrm>
        </p:spPr>
      </p:pic>
    </p:spTree>
    <p:extLst>
      <p:ext uri="{BB962C8B-B14F-4D97-AF65-F5344CB8AC3E}">
        <p14:creationId xmlns:p14="http://schemas.microsoft.com/office/powerpoint/2010/main" val="259950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70" y="317495"/>
            <a:ext cx="3577499" cy="1222385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sz="2400" b="1" dirty="0" smtClean="0">
                <a:solidFill>
                  <a:srgbClr val="00B050"/>
                </a:solidFill>
              </a:rPr>
              <a:t>2- DIAGRAMME DE CLASSE </a:t>
            </a:r>
            <a:endParaRPr lang="fr-FR" sz="2400" b="1" dirty="0">
              <a:solidFill>
                <a:srgbClr val="00B050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10</a:t>
            </a:fld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0" y="1285439"/>
            <a:ext cx="8458933" cy="489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2">
            <a:extLst>
              <a:ext uri="{FF2B5EF4-FFF2-40B4-BE49-F238E27FC236}">
                <a16:creationId xmlns:a16="http://schemas.microsoft.com/office/drawing/2014/main" id="{6B5EABF4-0273-C3FA-DB5A-5BB77AE84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11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5FF3EFE-CB82-FBD6-1402-651FDF36688F}"/>
              </a:ext>
            </a:extLst>
          </p:cNvPr>
          <p:cNvSpPr txBox="1"/>
          <p:nvPr/>
        </p:nvSpPr>
        <p:spPr>
          <a:xfrm>
            <a:off x="183738" y="306478"/>
            <a:ext cx="11426027" cy="646330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970384" y="457199"/>
            <a:ext cx="66321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0B050"/>
                </a:solidFill>
              </a:rPr>
              <a:t>5</a:t>
            </a:r>
            <a:r>
              <a:rPr lang="en-US" sz="3600" dirty="0" smtClean="0">
                <a:solidFill>
                  <a:srgbClr val="00B050"/>
                </a:solidFill>
              </a:rPr>
              <a:t>. </a:t>
            </a:r>
            <a:r>
              <a:rPr lang="en-US" sz="3600" dirty="0">
                <a:solidFill>
                  <a:srgbClr val="00B050"/>
                </a:solidFill>
              </a:rPr>
              <a:t>CONTRAINTES DE CONCEPTION</a:t>
            </a:r>
            <a:endParaRPr lang="fr-FR" sz="3600" dirty="0">
              <a:solidFill>
                <a:srgbClr val="00B050"/>
              </a:solidFill>
            </a:endParaRPr>
          </a:p>
          <a:p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802433" y="1859165"/>
            <a:ext cx="9237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smtClean="0"/>
              <a:t>- Respect </a:t>
            </a:r>
            <a:r>
              <a:rPr lang="en-US" dirty="0"/>
              <a:t>strict des permissions </a:t>
            </a:r>
            <a:r>
              <a:rPr lang="en-US" dirty="0" err="1"/>
              <a:t>système</a:t>
            </a:r>
            <a:r>
              <a:rPr lang="en-US" dirty="0"/>
              <a:t> Fedora</a:t>
            </a:r>
            <a:endParaRPr lang="fr-FR" dirty="0"/>
          </a:p>
          <a:p>
            <a:pPr lvl="0"/>
            <a:r>
              <a:rPr lang="en-US" dirty="0" smtClean="0"/>
              <a:t>- </a:t>
            </a:r>
            <a:r>
              <a:rPr lang="en-US" dirty="0" err="1" smtClean="0"/>
              <a:t>Simplicité</a:t>
            </a:r>
            <a:r>
              <a:rPr lang="en-US" dirty="0" smtClean="0"/>
              <a:t> </a:t>
            </a:r>
            <a:r>
              <a:rPr lang="en-US" dirty="0"/>
              <a:t>et </a:t>
            </a:r>
            <a:r>
              <a:rPr lang="en-US" dirty="0" err="1"/>
              <a:t>lisibilité</a:t>
            </a:r>
            <a:r>
              <a:rPr lang="en-US" dirty="0"/>
              <a:t> du code </a:t>
            </a:r>
            <a:endParaRPr lang="fr-FR" dirty="0"/>
          </a:p>
          <a:p>
            <a:pPr lvl="0"/>
            <a:r>
              <a:rPr lang="en-US" dirty="0" smtClean="0"/>
              <a:t>- </a:t>
            </a:r>
            <a:r>
              <a:rPr lang="en-US" dirty="0" err="1" smtClean="0"/>
              <a:t>Modularité</a:t>
            </a:r>
            <a:r>
              <a:rPr lang="en-US" dirty="0" smtClean="0"/>
              <a:t> </a:t>
            </a:r>
            <a:r>
              <a:rPr lang="en-US" dirty="0"/>
              <a:t>pour </a:t>
            </a:r>
            <a:r>
              <a:rPr lang="en-US" dirty="0" err="1"/>
              <a:t>faciliter</a:t>
            </a:r>
            <a:r>
              <a:rPr lang="en-US" dirty="0"/>
              <a:t> la maintenance</a:t>
            </a:r>
            <a:endParaRPr lang="fr-FR" dirty="0"/>
          </a:p>
          <a:p>
            <a:pPr lvl="0"/>
            <a:r>
              <a:rPr lang="en-US" dirty="0" smtClean="0"/>
              <a:t>- Performance </a:t>
            </a:r>
            <a:r>
              <a:rPr lang="en-US" dirty="0"/>
              <a:t>acceptable sur des </a:t>
            </a:r>
            <a:r>
              <a:rPr lang="en-US" dirty="0" err="1"/>
              <a:t>systèmes</a:t>
            </a:r>
            <a:r>
              <a:rPr lang="en-US" dirty="0"/>
              <a:t> </a:t>
            </a:r>
            <a:r>
              <a:rPr lang="en-US" dirty="0" err="1"/>
              <a:t>fortement</a:t>
            </a:r>
            <a:r>
              <a:rPr lang="en-US" dirty="0"/>
              <a:t> chargés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154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82" y="105759"/>
            <a:ext cx="11768918" cy="164585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b="1" dirty="0" smtClean="0">
                <a:solidFill>
                  <a:srgbClr val="00B050"/>
                </a:solidFill>
              </a:rPr>
              <a:t>CONCLUSION</a:t>
            </a:r>
            <a:endParaRPr lang="fr-FR" b="1" dirty="0">
              <a:solidFill>
                <a:srgbClr val="00B050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514583" y="1815271"/>
            <a:ext cx="7341637" cy="1514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 dossier de conception </a:t>
            </a:r>
            <a:r>
              <a:rPr lang="en-US" dirty="0" err="1"/>
              <a:t>définit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architecture </a:t>
            </a:r>
            <a:r>
              <a:rPr lang="en-US" dirty="0" err="1"/>
              <a:t>claire</a:t>
            </a:r>
            <a:r>
              <a:rPr lang="en-US" dirty="0"/>
              <a:t>, </a:t>
            </a:r>
            <a:r>
              <a:rPr lang="en-US" dirty="0" err="1"/>
              <a:t>modulaire</a:t>
            </a:r>
            <a:r>
              <a:rPr lang="en-US" dirty="0"/>
              <a:t> et </a:t>
            </a:r>
            <a:r>
              <a:rPr lang="en-US" dirty="0" err="1"/>
              <a:t>conforme</a:t>
            </a:r>
            <a:r>
              <a:rPr lang="en-US" dirty="0"/>
              <a:t> au cahier des charges du Web HTOP </a:t>
            </a:r>
            <a:r>
              <a:rPr lang="en-US" dirty="0" err="1"/>
              <a:t>Évolué</a:t>
            </a:r>
            <a:r>
              <a:rPr lang="en-US" dirty="0"/>
              <a:t>. La </a:t>
            </a:r>
            <a:r>
              <a:rPr lang="en-US" dirty="0" err="1"/>
              <a:t>modélisation</a:t>
            </a:r>
            <a:r>
              <a:rPr lang="en-US" dirty="0"/>
              <a:t> et les </a:t>
            </a:r>
            <a:r>
              <a:rPr lang="en-US" dirty="0" err="1"/>
              <a:t>schémas</a:t>
            </a:r>
            <a:r>
              <a:rPr lang="en-US" dirty="0"/>
              <a:t> constituent </a:t>
            </a:r>
            <a:r>
              <a:rPr lang="en-US" dirty="0" err="1"/>
              <a:t>une</a:t>
            </a:r>
            <a:r>
              <a:rPr lang="en-US" dirty="0"/>
              <a:t> base </a:t>
            </a:r>
            <a:r>
              <a:rPr lang="en-US" dirty="0" err="1"/>
              <a:t>solide</a:t>
            </a:r>
            <a:r>
              <a:rPr lang="en-US" dirty="0"/>
              <a:t> pour la phase de </a:t>
            </a:r>
            <a:r>
              <a:rPr lang="en-US" dirty="0" err="1"/>
              <a:t>réalisation</a:t>
            </a:r>
            <a:r>
              <a:rPr lang="en-US" dirty="0"/>
              <a:t> et </a:t>
            </a:r>
            <a:r>
              <a:rPr lang="en-US" dirty="0" err="1"/>
              <a:t>garantissent</a:t>
            </a:r>
            <a:r>
              <a:rPr lang="en-US" dirty="0"/>
              <a:t> la </a:t>
            </a:r>
            <a:r>
              <a:rPr lang="en-US" dirty="0" err="1"/>
              <a:t>traçabilité</a:t>
            </a:r>
            <a:r>
              <a:rPr lang="en-US" dirty="0"/>
              <a:t> entre les </a:t>
            </a:r>
            <a:r>
              <a:rPr lang="en-US" dirty="0" err="1"/>
              <a:t>exigences</a:t>
            </a:r>
            <a:r>
              <a:rPr lang="en-US" dirty="0"/>
              <a:t> et </a:t>
            </a:r>
            <a:r>
              <a:rPr lang="en-US" dirty="0" err="1"/>
              <a:t>l’implémentation</a:t>
            </a:r>
            <a:r>
              <a:rPr lang="en-US" dirty="0"/>
              <a:t> finale.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Personnalisé 2">
      <a:dk1>
        <a:srgbClr val="375623"/>
      </a:dk1>
      <a:lt1>
        <a:sysClr val="window" lastClr="FFFFFF"/>
      </a:lt1>
      <a:dk2>
        <a:srgbClr val="70AD47"/>
      </a:dk2>
      <a:lt2>
        <a:srgbClr val="E7E6E6"/>
      </a:lt2>
      <a:accent1>
        <a:srgbClr val="70AD47"/>
      </a:accent1>
      <a:accent2>
        <a:srgbClr val="FFC000"/>
      </a:accent2>
      <a:accent3>
        <a:srgbClr val="A8D08D"/>
      </a:accent3>
      <a:accent4>
        <a:srgbClr val="E2EFD9"/>
      </a:accent4>
      <a:accent5>
        <a:srgbClr val="FFC000"/>
      </a:accent5>
      <a:accent6>
        <a:srgbClr val="FFD965"/>
      </a:accent6>
      <a:hlink>
        <a:srgbClr val="FEE599"/>
      </a:hlink>
      <a:folHlink>
        <a:srgbClr val="FFD96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www.w3.org/XML/1998/namespace"/>
    <ds:schemaRef ds:uri="http://purl.org/dc/dcmitype/"/>
    <ds:schemaRef ds:uri="http://schemas.microsoft.com/office/infopath/2007/PartnerControls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purl.org/dc/elements/1.1/"/>
    <ds:schemaRef ds:uri="71af3243-3dd4-4a8d-8c0d-dd76da1f02a5"/>
    <ds:schemaRef ds:uri="http://schemas.microsoft.com/sharepoint/v3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416</Words>
  <Application>Microsoft Office PowerPoint</Application>
  <PresentationFormat>Grand écran</PresentationFormat>
  <Paragraphs>75</Paragraphs>
  <Slides>12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 CAHIER DE CONCEPTION  CONCEPTION ET REALISATION D’UN WEB HTOP EVOLUE CAS DE FEDORA </vt:lpstr>
      <vt:lpstr>PLAN : </vt:lpstr>
      <vt:lpstr>INTRODUCTION</vt:lpstr>
      <vt:lpstr>ARCHITECTURE GLOBAL DU SYSTEME</vt:lpstr>
      <vt:lpstr>2.2 Description textuelle de l’architecture </vt:lpstr>
      <vt:lpstr>ARCHITECTURE LOGICIEL  INTERNE </vt:lpstr>
      <vt:lpstr>DESCRIPTION TEXTUELLE</vt:lpstr>
      <vt:lpstr>PRESENTATION DES DIAGRAMMES</vt:lpstr>
      <vt:lpstr>3- DIAGRAMME DE SEQUENCE CHANGEMENT DE PRIORITE D’UN PROCESSUS</vt:lpstr>
      <vt:lpstr>2- DIAGRAMME DE CLASSE </vt:lpstr>
      <vt:lpstr>Présentation PowerPoint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CAHIER DE CONCEPTION  CONCEPTION ET REALISATION D’UN WEB HTOP EVOLUE CAS DE FEDORA</dc:title>
  <dc:subject/>
  <dc:creator>patrice omgba</dc:creator>
  <cp:lastModifiedBy>abraham</cp:lastModifiedBy>
  <cp:revision>19</cp:revision>
  <dcterms:created xsi:type="dcterms:W3CDTF">2026-01-05T12:11:33Z</dcterms:created>
  <dcterms:modified xsi:type="dcterms:W3CDTF">2026-01-24T11:12:07Z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